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rop_9398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0"/>
            <a:ext cx="45537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955279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6903720" y="0"/>
            <a:ext cx="1097280" cy="6858000"/>
          </a:xfrm>
          <a:prstGeom prst="parallelogram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64008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Business Intelligence</a:t>
            </a:r>
            <a:br/>
            <a:r>
              <a:t>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34640"/>
            <a:ext cx="6126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2E8F0"/>
                </a:solidFill>
                <a:latin typeface="Aptos"/>
              </a:rPr>
              <a:t>for Organizational Performance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03320"/>
            <a:ext cx="5989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CBD5E1"/>
                </a:solidFill>
                <a:latin typeface="Aptos"/>
              </a:rPr>
              <a:t>From fragmented data to decisions that people can actually act 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892040"/>
            <a:ext cx="123444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901183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LITERATURE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8" y="4892040"/>
            <a:ext cx="141732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7127" y="4901183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RESEARCH 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4892040"/>
            <a:ext cx="123444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7" y="4901183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5866209"/>
            <a:ext cx="32004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000" b="1" dirty="0">
                <a:solidFill>
                  <a:srgbClr val="94A3B8"/>
                </a:solidFill>
                <a:latin typeface="Aptos"/>
              </a:rPr>
              <a:t>Batch - 05</a:t>
            </a:r>
            <a:endParaRPr sz="1000" b="1" dirty="0">
              <a:solidFill>
                <a:srgbClr val="94A3B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2959"/>
                </a:solidFill>
                <a:latin typeface="Aptos"/>
              </a:rPr>
              <a:t>The real problem is not data. It is fragmented understanding.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_crop_257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3703320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5440680"/>
            <a:ext cx="370332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559552"/>
            <a:ext cx="3337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One decision • many files • no single story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1545336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58191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481328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2959"/>
                </a:solidFill>
                <a:latin typeface="Aptos"/>
              </a:rPr>
              <a:t>Fragmented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463040"/>
            <a:ext cx="42519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Sales, finance, HR, marketing and operations often live in separate systems.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624327"/>
            <a:ext cx="411480" cy="411480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2660903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56032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2959"/>
                </a:solidFill>
                <a:latin typeface="Aptos"/>
              </a:rPr>
              <a:t>Manual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542032"/>
            <a:ext cx="42519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Teams repeatedly export, clean, merge and rebuild reports.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703320"/>
            <a:ext cx="411480" cy="4114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3739896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639312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2959"/>
                </a:solidFill>
                <a:latin typeface="Aptos"/>
              </a:rPr>
              <a:t>Inconsistent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621024"/>
            <a:ext cx="42519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Similar measures can be calculated differently across departments.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4782312"/>
            <a:ext cx="411480" cy="411480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481888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4718304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2959"/>
                </a:solidFill>
                <a:latin typeface="Aptos"/>
              </a:rPr>
              <a:t>Delayed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700016"/>
            <a:ext cx="42519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Important trends and exceptions can be buried inside periodic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2959"/>
                </a:solidFill>
                <a:latin typeface="Aptos"/>
              </a:rPr>
              <a:t>Objectives that directly answer the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417320"/>
            <a:ext cx="513892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73152" cy="1243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1563624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527048"/>
            <a:ext cx="3886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2959"/>
                </a:solidFill>
                <a:latin typeface="Aptos"/>
              </a:rPr>
              <a:t>Unify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856232"/>
            <a:ext cx="397763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Bring multi-department data into one analytical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417320"/>
            <a:ext cx="513892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81928" y="1417320"/>
            <a:ext cx="73152" cy="1243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8816" y="1563624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527048"/>
            <a:ext cx="3886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2959"/>
                </a:solidFill>
                <a:latin typeface="Aptos"/>
              </a:rPr>
              <a:t>Build a reliable ETL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1856232"/>
            <a:ext cx="397763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Profile, clean, transform, validate and load the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990088"/>
            <a:ext cx="513892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2990088"/>
            <a:ext cx="73152" cy="1243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" y="3136392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3099816"/>
            <a:ext cx="3886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2959"/>
                </a:solidFill>
                <a:latin typeface="Aptos"/>
              </a:rPr>
              <a:t>Govern the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3429000"/>
            <a:ext cx="397763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Create consistent, reusable and auditable metric definitions.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2990088"/>
            <a:ext cx="513892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81928" y="2990088"/>
            <a:ext cx="73152" cy="12435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28816" y="3136392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099816"/>
            <a:ext cx="3886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2959"/>
                </a:solidFill>
                <a:latin typeface="Aptos"/>
              </a:rPr>
              <a:t>Find the 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429000"/>
            <a:ext cx="397763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Use EDA to uncover trends, relationships and outliers.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562856"/>
            <a:ext cx="513892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4562856"/>
            <a:ext cx="73152" cy="1243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" y="4709160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5607" y="4672584"/>
            <a:ext cx="3886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2959"/>
                </a:solidFill>
                <a:latin typeface="Aptos"/>
              </a:rPr>
              <a:t>Design for people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7" y="5001768"/>
            <a:ext cx="397763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Build role-oriented dashboards with clear interactions.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4562856"/>
            <a:ext cx="513892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81928" y="4562856"/>
            <a:ext cx="73152" cy="1243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28816" y="4709160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4672584"/>
            <a:ext cx="3886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2959"/>
                </a:solidFill>
                <a:latin typeface="Aptos"/>
              </a:rPr>
              <a:t>Prove the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001768"/>
            <a:ext cx="397763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Evaluate accuracy, usability, responsiveness and decision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2959"/>
                </a:solidFill>
                <a:latin typeface="Aptos"/>
              </a:rPr>
              <a:t>10 papers → 5 themes → one clear direction.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417320"/>
            <a:ext cx="4800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572768"/>
            <a:ext cx="45720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490472"/>
            <a:ext cx="1691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BI &amp;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463040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>
                <a:solidFill>
                  <a:srgbClr val="475569"/>
                </a:solidFill>
                <a:latin typeface="Aptos"/>
              </a:rPr>
              <a:t>BI creates value when analytics are embedded in real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58568"/>
            <a:ext cx="4800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2414016"/>
            <a:ext cx="45720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331720"/>
            <a:ext cx="1691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Self-Service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30428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>
                <a:solidFill>
                  <a:srgbClr val="475569"/>
                </a:solidFill>
                <a:latin typeface="Aptos"/>
              </a:rPr>
              <a:t>Adoption depends on governance, skills and the data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99816"/>
            <a:ext cx="4800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3255264"/>
            <a:ext cx="45720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264408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172968"/>
            <a:ext cx="1691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Data Understanding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145536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>
                <a:solidFill>
                  <a:srgbClr val="475569"/>
                </a:solidFill>
                <a:latin typeface="Aptos"/>
              </a:rPr>
              <a:t>Profiling, metadata and context matter before visualization.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41064"/>
            <a:ext cx="4800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60" y="4096512"/>
            <a:ext cx="457200" cy="31089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105656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014216"/>
            <a:ext cx="1691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Visual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3986784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>
                <a:solidFill>
                  <a:srgbClr val="475569"/>
                </a:solidFill>
                <a:latin typeface="Aptos"/>
              </a:rPr>
              <a:t>Goals, uncertainty and representation affect interpretation.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782312"/>
            <a:ext cx="4800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" y="4937760"/>
            <a:ext cx="45720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946904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855464"/>
            <a:ext cx="1691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Dashboard 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4828032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>
                <a:solidFill>
                  <a:srgbClr val="475569"/>
                </a:solidFill>
                <a:latin typeface="Aptos"/>
              </a:rPr>
              <a:t>Cognitive load, personalization and drill-down shape usability.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1417320"/>
            <a:ext cx="544068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36208" y="2251873"/>
            <a:ext cx="4480560" cy="7540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"/>
              </a:rPr>
              <a:t>Successful BI is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not only a dashboard.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324612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The research repeatedly points to the same chain: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3794760"/>
            <a:ext cx="205740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81928" y="3803904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QUALITY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59368" y="3794760"/>
            <a:ext cx="205740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05088" y="3803904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KPI MEANING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6208" y="4453128"/>
            <a:ext cx="205740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81928" y="4462272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USER CONTEXT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59368" y="4453128"/>
            <a:ext cx="2057400" cy="31089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05088" y="4462272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VISUAL CLARITY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6208" y="5111496"/>
            <a:ext cx="2057400" cy="310896"/>
          </a:xfrm>
          <a:prstGeom prst="roundRect">
            <a:avLst/>
          </a:prstGeom>
          <a:solidFill>
            <a:srgbClr val="1F2959"/>
          </a:solidFill>
          <a:ln w="12700">
            <a:solidFill>
              <a:srgbClr val="1F2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81928" y="5120640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5518011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Our project connects these pieces into one end-to-end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2959"/>
                </a:solidFill>
                <a:latin typeface="Aptos"/>
              </a:rPr>
              <a:t>The gap is integration, traceability and human-centered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41732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45336"/>
            <a:ext cx="4754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F2959"/>
                </a:solidFill>
                <a:latin typeface="Aptos"/>
              </a:rPr>
              <a:t>Research is fragmented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BI adoption, data understanding, dashboard UX and visual analytics are often studied separately.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545336"/>
            <a:ext cx="4754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F2959"/>
                </a:solidFill>
                <a:latin typeface="Aptos"/>
              </a:rPr>
              <a:t>Departments are fragmented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Sales, Finance, HR, Marketing and Operations use different dimensions and reporting cycles.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24912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724912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852928"/>
            <a:ext cx="4754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F2959"/>
                </a:solidFill>
                <a:latin typeface="Aptos"/>
              </a:rPr>
              <a:t>Dashboards hide the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63824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Many prototypes focus on the final visual layer instead of showing how KPI results are produced.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724912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724912"/>
            <a:ext cx="73152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2852928"/>
            <a:ext cx="4754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F2959"/>
                </a:solidFill>
                <a:latin typeface="Aptos"/>
              </a:rPr>
              <a:t>Personalization can add complexity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63824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More customization is not always better; controlled role-based interaction is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9496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539496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22976"/>
            <a:ext cx="4754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F2959"/>
                </a:solidFill>
                <a:latin typeface="Aptos"/>
              </a:rPr>
              <a:t>Evaluation is incomplete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33872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Accuracy, consistency, usability and decision usefulness should be considered together.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394960"/>
            <a:ext cx="4572000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562356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9F6E4"/>
                </a:solidFill>
                <a:latin typeface="Aptos"/>
              </a:rPr>
              <a:t>GAP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532120"/>
            <a:ext cx="3246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  <a:latin typeface="Aptos"/>
              </a:rPr>
              <a:t>One transparent path from data → KPI → dashboard →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2959"/>
                </a:solidFill>
                <a:latin typeface="Aptos"/>
              </a:rPr>
              <a:t>A decision-first BI pipeline, not just a collection of charts.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874519"/>
            <a:ext cx="1234440" cy="9601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2039112"/>
            <a:ext cx="10881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DATA</a:t>
            </a:r>
            <a:br/>
            <a:r>
              <a:t>SOURCES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73936" y="2350008"/>
            <a:ext cx="21031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1874519"/>
            <a:ext cx="1325880" cy="96012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30552" y="2039112"/>
            <a:ext cx="11795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ETL +</a:t>
            </a:r>
            <a:br/>
            <a:r>
              <a:t>QUALITY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19856" y="2350008"/>
            <a:ext cx="21031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03320" y="1874519"/>
            <a:ext cx="1508760" cy="9601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2039112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WAREHOUSE</a:t>
            </a:r>
            <a:br/>
            <a:r>
              <a:t>STAR SCHEMA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48655" y="2350008"/>
            <a:ext cx="256033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577840" y="1874519"/>
            <a:ext cx="1417320" cy="9601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50992" y="2039112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KPI /</a:t>
            </a:r>
            <a:br/>
            <a:r>
              <a:t>SEMANTIC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31736" y="2350008"/>
            <a:ext cx="25603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60920" y="1874519"/>
            <a:ext cx="1417320" cy="9601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34072" y="2039112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DASHBOARDS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14816" y="2350008"/>
            <a:ext cx="25603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0" y="1874519"/>
            <a:ext cx="1554480" cy="960120"/>
          </a:xfrm>
          <a:prstGeom prst="roundRect">
            <a:avLst/>
          </a:prstGeom>
          <a:solidFill>
            <a:srgbClr val="1F2959"/>
          </a:solidFill>
          <a:ln w="12700">
            <a:solidFill>
              <a:srgbClr val="1F2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17152" y="2039112"/>
            <a:ext cx="14081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DECISION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127248"/>
            <a:ext cx="7863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ptos"/>
              </a:rPr>
              <a:t>Sales • Finance • HR • Marketing • Operations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86200"/>
            <a:ext cx="3429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400507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Decision-first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27024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Aptos"/>
              </a:rPr>
              <a:t>Start with the question, then choose the KPI and visual.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886200"/>
            <a:ext cx="3429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9432" y="400507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Cross-functional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27024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Aptos"/>
              </a:rPr>
              <a:t>Shared dimensions make departmental performance comparable.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886200"/>
            <a:ext cx="3429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94192" y="400507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Traceable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27024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Aptos"/>
              </a:rPr>
              <a:t>Every major visual can be linked back to a KPI definition and curated data.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120640"/>
            <a:ext cx="3429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1" y="523951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Human-centered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550468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Aptos"/>
              </a:rPr>
              <a:t>Summary first; detail through filters and controlled drill-down.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5120640"/>
            <a:ext cx="3429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99432" y="523951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Future-ready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2" y="550468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Aptos"/>
              </a:rPr>
              <a:t>Designed to extend into forecasting, anomaly detection and natural-language BI.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2959"/>
                </a:solidFill>
                <a:latin typeface="Aptos"/>
              </a:rPr>
              <a:t>Yes — the scope is realistic, measurable and staged.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417320"/>
            <a:ext cx="3703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959"/>
                </a:solidFill>
                <a:latin typeface="Aptos"/>
              </a:rPr>
              <a:t>FEASIBILITY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105156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49424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TECHNICAL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221992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Python • Pandas • SQL/PostgreSQL • Power 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98648"/>
            <a:ext cx="105156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907791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88036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Public business datasets + controlled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557016"/>
            <a:ext cx="105156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538728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Open-source tools + academic/free tiers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15384"/>
            <a:ext cx="1051560" cy="31089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224528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197096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Simple KPIs, filters, drill-downs and role 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73752"/>
            <a:ext cx="105156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882896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855464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8-week staged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1719072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959"/>
                </a:solidFill>
                <a:latin typeface="Aptos"/>
              </a:rPr>
              <a:t>8-WEEK EXECUTION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224028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18888" y="235000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W1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266090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Problem + literature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24028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235000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Aptos"/>
              </a:rPr>
              <a:t>W2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266090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Data + profiling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224028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0727" y="235000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Aptos"/>
              </a:rPr>
              <a:t>W3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7" y="266090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ETL +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46920" y="224028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56648" y="235000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Aptos"/>
              </a:rPr>
              <a:t>W4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266090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Warehouse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09160" y="365760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18888" y="376732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W5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8888" y="407822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EDA + KPIs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365760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64808" y="376732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Aptos"/>
              </a:rPr>
              <a:t>W6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8" y="407822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Dashboards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01000" y="365760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10727" y="376732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Aptos"/>
              </a:rPr>
              <a:t>W7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0727" y="407822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Testing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46920" y="365760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56648" y="376732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Aptos"/>
              </a:rPr>
              <a:t>W8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48" y="407822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Report + review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09160" y="5212080"/>
            <a:ext cx="640080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83480" y="5376672"/>
            <a:ext cx="5852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Build → validate → evaluate → improve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1192173"/>
            <a:ext cx="6583680" cy="8617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Aptos"/>
              </a:rPr>
              <a:t>From scattered data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to confident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6126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The project turns the literature gap into a practical, measurable and human-centered BI 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886200"/>
            <a:ext cx="1170432" cy="5669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89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LITERATURE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9967" y="3575304"/>
            <a:ext cx="1170432" cy="56692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75687" y="3712464"/>
            <a:ext cx="10789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3264408"/>
            <a:ext cx="1170432" cy="56692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9856" y="3401568"/>
            <a:ext cx="10789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8304" y="2953512"/>
            <a:ext cx="1170432" cy="566928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64024" y="3090672"/>
            <a:ext cx="10789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INNOVATION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8272" y="2642615"/>
            <a:ext cx="1170432" cy="5669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8272" y="2830068"/>
            <a:ext cx="10789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005840"/>
            <a:ext cx="388620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79" y="2177713"/>
            <a:ext cx="3063240" cy="1908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Aptos"/>
              </a:rPr>
              <a:t>We are not building</a:t>
            </a:r>
            <a:br>
              <a:rPr dirty="0"/>
            </a:br>
            <a:r>
              <a:rPr sz="2400" b="1" dirty="0">
                <a:solidFill>
                  <a:schemeClr val="bg1"/>
                </a:solidFill>
              </a:rPr>
              <a:t>a dashboard</a:t>
            </a:r>
            <a:r>
              <a:rPr dirty="0">
                <a:solidFill>
                  <a:schemeClr val="bg1"/>
                </a:solidFill>
              </a:rPr>
              <a:t>.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We are building the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pipeline that makes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the dashboard useful.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937760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2E8F0"/>
                </a:solidFill>
                <a:latin typeface="Aptos"/>
              </a:rPr>
              <a:t>Data → KPI → Insight →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" y="5826177"/>
            <a:ext cx="3060291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675</Words>
  <Application>Microsoft Office PowerPoint</Application>
  <PresentationFormat>Widescreen</PresentationFormat>
  <Paragraphs>141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sesank yennam</cp:lastModifiedBy>
  <cp:revision>2</cp:revision>
  <dcterms:created xsi:type="dcterms:W3CDTF">2013-01-27T09:14:16Z</dcterms:created>
  <dcterms:modified xsi:type="dcterms:W3CDTF">2026-08-10T14:59:44Z</dcterms:modified>
  <cp:category/>
</cp:coreProperties>
</file>